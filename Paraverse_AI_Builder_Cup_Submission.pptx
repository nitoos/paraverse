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font" Target="fonts/GoogleSansFlexMedium-regular.fntdata"/><Relationship Id="rId23" Type="http://schemas.openxmlformats.org/officeDocument/2006/relationships/font" Target="fonts/GoogleSansFlexMedium-bold.fntdata"/><Relationship Id="rId24" Type="http://schemas.openxmlformats.org/officeDocument/2006/relationships/font" Target="fonts/GoogleSansFlex-regular.fntdata"/><Relationship Id="rId25" Type="http://schemas.openxmlformats.org/officeDocument/2006/relationships/font" Target="fonts/GoogleSansFlex-bold.fntdata"/><Relationship Id="rId26" Type="http://schemas.openxmlformats.org/officeDocument/2006/relationships/font" Target="fonts/GoogleSansFlexSemiBold-regular.fntdata"/><Relationship Id="rId27" Type="http://schemas.openxmlformats.org/officeDocument/2006/relationships/font" Target="fonts/GoogleSansFlexSemiBo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b085bff3c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b085bff3c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name:  Paraverse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leader name:  Babu Subashbabu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Problem Statement:  Enterprise UX Friction &amp; Workforce Hour Loss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5092475" y="1968750"/>
            <a:ext cx="3311400" cy="12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Note:</a:t>
            </a: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Please download this template to make your edits and submit the final version.</a:t>
            </a: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To download, go to File &gt; Download &gt; Microsoft PowerPoint (.PPTX). Kindly refrain from sending edit requests.</a:t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4203" y="1194675"/>
            <a:ext cx="3604250" cy="2621725"/>
          </a:xfrm>
          <a:prstGeom prst="rect">
            <a:avLst/>
          </a:prstGeom>
          <a:noFill/>
          <a:ln>
            <a:noFill/>
          </a:ln>
          <a:effectLst>
            <a:outerShdw blurRad="971550" rotWithShape="0" algn="bl" dir="5400000" dist="19050">
              <a:schemeClr val="lt1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202124"/>
                </a:solidFill>
              </a:rPr>
              <a:t>Paraverse is an AI-powered synthetic workforce simulator that predicts UX friction before real employees feel it.
Enterprise tools lose thousands of productive hours every year to confusing UIs — but traditional usability testing is slow, expensive, and limited in scale.
Paraverse deploys a swarm of AI persona agents (New Hire, Power User, Frontline Mobile, Non-Native Speaker, Low Vision) that autonomously navigate any web-based enterprise UI, narrate their reasoning in real time, and surface every friction point, drop-off step, and confusion cluster — in minutes, not months.
The platform then delivers a ranked Fix Loop: actionable UX fixes with predicted hours-saved-per-year impact, ready to drop straight into the next sprint.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13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b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</a:b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How different is it from any of the other existing ideas?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How will it be able to solve the problem?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USP of the proposed solution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365760" y="2011680"/>
            <a:ext cx="3840480" cy="17373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02920" y="21031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FFFFF"/>
                </a:solidFill>
              </a:rPr>
              <a:t>Problem Size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02920" y="2423160"/>
            <a:ext cx="3566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>
                <a:solidFill>
                  <a:srgbClr val="FFFFFF"/>
                </a:solidFill>
              </a:rPr>
              <a:t>Enterprises lose 20-40k person-hours/year to friction in internal tools.
Traditional UX research: 6-8 weeks, $50k+.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72000" y="2011680"/>
            <a:ext cx="3840480" cy="17373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709160" y="21031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FFFFF"/>
                </a:solidFill>
              </a:rPr>
              <a:t>How We're Different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709160" y="2423160"/>
            <a:ext cx="3566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>
                <a:solidFill>
                  <a:srgbClr val="FFFFFF"/>
                </a:solidFill>
              </a:rPr>
              <a:t>No human testers. No lab setup. Paste a URL → swarm runs in minutes.
Covers 5 workforce segments simultaneously.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65760" y="4114800"/>
            <a:ext cx="3840480" cy="1737360"/>
          </a:xfrm>
          <a:prstGeom prst="rect">
            <a:avLst/>
          </a:prstGeom>
          <a:solidFill>
            <a:srgbClr val="FA7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02920" y="42062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FFFFF"/>
                </a:solidFill>
              </a:rPr>
              <a:t>How It Solves the Problem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02920" y="4526280"/>
            <a:ext cx="3566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>
                <a:solidFill>
                  <a:srgbClr val="FFFFFF"/>
                </a:solidFill>
              </a:rPr>
              <a:t>AI agents navigate real UIs, reason with Gemini vision, and emit timestamped friction events — fully automated.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572000" y="4114800"/>
            <a:ext cx="3840480" cy="1737360"/>
          </a:xfrm>
          <a:prstGeom prst="rect">
            <a:avLst/>
          </a:prstGeom>
          <a:solidFill>
            <a:srgbClr val="A14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709160" y="42062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FFFFF"/>
                </a:solidFill>
              </a:rPr>
              <a:t>USP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709160" y="4526280"/>
            <a:ext cx="3566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>
                <a:solidFill>
                  <a:srgbClr val="FFFFFF"/>
                </a:solidFill>
              </a:rPr>
              <a:t>Calibrated synthetic agents + live Thought Stream + dollar-cost attribution.
Deploys on any web UI with zero instrumentation.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365760" y="118872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1A73E8"/>
                </a:solidFill>
              </a:rPr>
              <a:t>• AI Persona Swarm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65760" y="141732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>
                <a:solidFill>
                  <a:srgbClr val="5F6368"/>
                </a:solidFill>
              </a:rPr>
              <a:t>5 workforce segments (New Hire, Power User, Frontline Mobile, Non-Native, Low Vision) navigate real web UIs in parallel via Playwright + Gemini Flash.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72000" y="118872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1A73E8"/>
                </a:solidFill>
              </a:rPr>
              <a:t>• Live Swarm Wall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572000" y="141732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>
                <a:solidFill>
                  <a:srgbClr val="5F6368"/>
                </a:solidFill>
              </a:rPr>
              <a:t>Real-time 32-tile agent grid showing each persona's current action, step trail, confusion state, and a live Agent Feed thought stream.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65760" y="205740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1A73E8"/>
                </a:solidFill>
              </a:rPr>
              <a:t>• Friction Report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65760" y="228600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>
                <a:solidFill>
                  <a:srgbClr val="5F6368"/>
                </a:solidFill>
              </a:rPr>
              <a:t>Funnel drop-off chart, per-segment completion &amp; confusion rates, variant comparison with winner badge.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572000" y="205740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1A73E8"/>
                </a:solidFill>
              </a:rPr>
              <a:t>• Dollar Cost Attribution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572000" y="228600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>
                <a:solidFill>
                  <a:srgbClr val="5F6368"/>
                </a:solidFill>
              </a:rPr>
              <a:t>Calculates person-hours lost/year with editable hourly rate. Donut ring + confusion bars per segment.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65760" y="292608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1A73E8"/>
                </a:solidFill>
              </a:rPr>
              <a:t>• AI Fix Loop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65760" y="315468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>
                <a:solidFill>
                  <a:srgbClr val="5F6368"/>
                </a:solidFill>
              </a:rPr>
              <a:t>Gemini-generated ranked UX fixes with HIGH/MEDIUM/LOW impact labels and predicted hours-saved.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572000" y="292608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1A73E8"/>
                </a:solidFill>
              </a:rPr>
              <a:t>• Calibration Chart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572000" y="315468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>
                <a:solidFill>
                  <a:srgbClr val="5F6368"/>
                </a:solidFill>
              </a:rPr>
              <a:t>Half-circle accuracy gauges + per-segment bar chart benchmarking synthetic vs real user outcomes.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65760" y="379476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1A73E8"/>
                </a:solidFill>
              </a:rPr>
              <a:t>• Segment Breakdown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65760" y="402336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>
                <a:solidFill>
                  <a:srgbClr val="5F6368"/>
                </a:solidFill>
              </a:rPr>
              <a:t>Per-persona segment completion bars overlaid on variant performance for cross-segment analysis.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572000" y="379476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1A73E8"/>
                </a:solidFill>
              </a:rPr>
              <a:t>• Replay Engine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572000" y="402336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>
                <a:solidFill>
                  <a:srgbClr val="5F6368"/>
                </a:solidFill>
              </a:rPr>
              <a:t>SSE-streamed replay of stored runs — full swarm demo without re-running agents, from a seed dataset.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457200" y="2011679"/>
            <a:ext cx="1280160" cy="11887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57200" y="20574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8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57200" y="2468879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000">
                <a:solidFill>
                  <a:srgbClr val="FFFFFF"/>
                </a:solidFill>
              </a:rPr>
              <a:t>Paste URL
+ Task Goal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755648" y="2377439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600">
                <a:solidFill>
                  <a:srgbClr val="202124"/>
                </a:solidFill>
              </a:rPr>
              <a:t>→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057400" y="2011679"/>
            <a:ext cx="1280160" cy="11887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057400" y="20574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8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057400" y="2468879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000">
                <a:solidFill>
                  <a:srgbClr val="FFFFFF"/>
                </a:solidFill>
              </a:rPr>
              <a:t>Persona
Generation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355848" y="2377439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600">
                <a:solidFill>
                  <a:srgbClr val="202124"/>
                </a:solidFill>
              </a:rPr>
              <a:t>→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657600" y="2011679"/>
            <a:ext cx="1280160" cy="1188720"/>
          </a:xfrm>
          <a:prstGeom prst="rect">
            <a:avLst/>
          </a:prstGeom>
          <a:solidFill>
            <a:srgbClr val="FA7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657600" y="20574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8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657600" y="2468879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000">
                <a:solidFill>
                  <a:srgbClr val="FFFFFF"/>
                </a:solidFill>
              </a:rPr>
              <a:t>Swarm
Execution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956048" y="2377439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600">
                <a:solidFill>
                  <a:srgbClr val="202124"/>
                </a:solidFill>
              </a:rPr>
              <a:t>→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257800" y="2011679"/>
            <a:ext cx="1280160" cy="1188720"/>
          </a:xfrm>
          <a:prstGeom prst="rect">
            <a:avLst/>
          </a:prstGeom>
          <a:solidFill>
            <a:srgbClr val="A14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257800" y="20574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80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257800" y="2468879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000">
                <a:solidFill>
                  <a:srgbClr val="FFFFFF"/>
                </a:solidFill>
              </a:rPr>
              <a:t>Friction
Analysis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556248" y="2377439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600">
                <a:solidFill>
                  <a:srgbClr val="202124"/>
                </a:solidFill>
              </a:rPr>
              <a:t>→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858000" y="2011679"/>
            <a:ext cx="1280160" cy="118872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858000" y="20574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80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858000" y="2468879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000">
                <a:solidFill>
                  <a:srgbClr val="FFFFFF"/>
                </a:solidFill>
              </a:rPr>
              <a:t>Fix Loop
+ Report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57200" y="324612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900">
                <a:solidFill>
                  <a:srgbClr val="5F6368"/>
                </a:solidFill>
              </a:rPr>
              <a:t>FastAPI
Study API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057400" y="324612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900">
                <a:solidFill>
                  <a:srgbClr val="5F6368"/>
                </a:solidFill>
              </a:rPr>
              <a:t>Gemini Flash
Persona Gen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657600" y="324612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900">
                <a:solidFill>
                  <a:srgbClr val="5F6368"/>
                </a:solidFill>
              </a:rPr>
              <a:t>Playwright
+ Gemini Vision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257800" y="324612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900">
                <a:solidFill>
                  <a:srgbClr val="5F6368"/>
                </a:solidFill>
              </a:rPr>
              <a:t>Metrics
Engine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858000" y="324612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900">
                <a:solidFill>
                  <a:srgbClr val="5F6368"/>
                </a:solidFill>
              </a:rPr>
              <a:t>Gemini
Fix Suggester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>
                <a:solidFill>
                  <a:srgbClr val="5F6368"/>
                </a:solidFill>
              </a:rPr>
              <a:t>SSE streaming delivers live step events to the Swarm Wall → on completion, metrics are computed → Fix Loop auto-loads AI-generated recommendations.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Wireframes/Mock diagrams of the proposed solution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12" name="Rectangle 111"/>
          <p:cNvSpPr/>
          <p:nvPr/>
        </p:nvSpPr>
        <p:spPr>
          <a:xfrm>
            <a:off x="365760" y="1188720"/>
            <a:ext cx="8412480" cy="25603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57200" y="1197864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00">
                <a:solidFill>
                  <a:srgbClr val="FFFFFF"/>
                </a:solidFill>
              </a:rPr>
              <a:t>Frontend (React + TypeScript + Tailwind)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57200" y="1463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>
                <a:solidFill>
                  <a:srgbClr val="202124"/>
                </a:solidFill>
              </a:rPr>
              <a:t>Landing · Setup · Swarm Wall (32 tiles + Thought Stream) · Report (Funnel / Segments / Hours Lost / Fix Loop / Calibration)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365760" y="2057400"/>
            <a:ext cx="8412480" cy="2560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57200" y="2066543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00">
                <a:solidFill>
                  <a:srgbClr val="FFFFFF"/>
                </a:solidFill>
              </a:rPr>
              <a:t>Backend (FastAPI + Python)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57200" y="23317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>
                <a:solidFill>
                  <a:srgbClr val="202124"/>
                </a:solidFill>
              </a:rPr>
              <a:t>REST API · SSE streaming · Persona Generator · Swarm Runner · Metrics Engine · Fix Suggester · Calibration Module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2926080"/>
            <a:ext cx="8412480" cy="256032"/>
          </a:xfrm>
          <a:prstGeom prst="rect">
            <a:avLst/>
          </a:prstGeom>
          <a:solidFill>
            <a:srgbClr val="FA7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2935224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00">
                <a:solidFill>
                  <a:srgbClr val="FFFFFF"/>
                </a:solidFill>
              </a:rPr>
              <a:t>AI Layer (Google Gemini)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57200" y="32004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>
                <a:solidFill>
                  <a:srgbClr val="202124"/>
                </a:solidFill>
              </a:rPr>
              <a:t>gemini-2.0-flash — Persona generation · Vision-based step reasoning · Fix suggestion · Calibration scoring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365760" y="3794760"/>
            <a:ext cx="8412480" cy="256032"/>
          </a:xfrm>
          <a:prstGeom prst="rect">
            <a:avLst/>
          </a:prstGeom>
          <a:solidFill>
            <a:srgbClr val="A14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57200" y="3803904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00">
                <a:solidFill>
                  <a:srgbClr val="FFFFFF"/>
                </a:solidFill>
              </a:rPr>
              <a:t>Data Layer (SQLite / SQLModel + Playwright)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>
                <a:solidFill>
                  <a:srgbClr val="202124"/>
                </a:solidFill>
              </a:rPr>
              <a:t>Study · Variant · Persona · Run · Step · Fix tables · Playwright Chromium browser automation · Screenshot store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0" name="Rectangle 119"/>
          <p:cNvSpPr/>
          <p:nvPr/>
        </p:nvSpPr>
        <p:spPr>
          <a:xfrm>
            <a:off x="365760" y="1280160"/>
            <a:ext cx="1920240" cy="3200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65760" y="129844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10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65760" y="16916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>
                <a:solidFill>
                  <a:srgbClr val="202124"/>
                </a:solidFill>
              </a:rPr>
              <a:t>• React 18 + TypeScript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65760" y="21945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>
                <a:solidFill>
                  <a:srgbClr val="202124"/>
                </a:solidFill>
              </a:rPr>
              <a:t>• Vite build tool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65760" y="26974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>
                <a:solidFill>
                  <a:srgbClr val="202124"/>
                </a:solidFill>
              </a:rPr>
              <a:t>• Tailwind CSS + inline styles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65760" y="32004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>
                <a:solidFill>
                  <a:srgbClr val="202124"/>
                </a:solidFill>
              </a:rPr>
              <a:t>• SSE (EventSource) streaming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2606040" y="1280160"/>
            <a:ext cx="1920240" cy="3200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2606040" y="129844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100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606040" y="16916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>
                <a:solidFill>
                  <a:srgbClr val="202124"/>
                </a:solidFill>
              </a:rPr>
              <a:t>• Python 3.11 + FastAPI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606040" y="21945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>
                <a:solidFill>
                  <a:srgbClr val="202124"/>
                </a:solidFill>
              </a:rPr>
              <a:t>• SQLModel + SQLite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606040" y="26974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>
                <a:solidFill>
                  <a:srgbClr val="202124"/>
                </a:solidFill>
              </a:rPr>
              <a:t>• Playwright (Chromium)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606040" y="32004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>
                <a:solidFill>
                  <a:srgbClr val="202124"/>
                </a:solidFill>
              </a:rPr>
              <a:t>• asyncio + streaming queues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4846320" y="1280160"/>
            <a:ext cx="1920240" cy="3200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4846320" y="129844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100">
                <a:solidFill>
                  <a:srgbClr val="FFFFFF"/>
                </a:solidFill>
              </a:rPr>
              <a:t>AI / ML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846320" y="16916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>
                <a:solidFill>
                  <a:srgbClr val="202124"/>
                </a:solidFill>
              </a:rPr>
              <a:t>• Google Gemini 2.0 Flash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846320" y="21945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>
                <a:solidFill>
                  <a:srgbClr val="202124"/>
                </a:solidFill>
              </a:rPr>
              <a:t>• Gemini Vision (screenshots)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846320" y="26974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>
                <a:solidFill>
                  <a:srgbClr val="202124"/>
                </a:solidFill>
              </a:rPr>
              <a:t>• Persona generation prompts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846320" y="32004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>
                <a:solidFill>
                  <a:srgbClr val="202124"/>
                </a:solidFill>
              </a:rPr>
              <a:t>• Fix suggestion chain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7086600" y="1280160"/>
            <a:ext cx="1920240" cy="3200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7086600" y="129844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100">
                <a:solidFill>
                  <a:srgbClr val="FFFFFF"/>
                </a:solidFill>
              </a:rPr>
              <a:t>Infra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086600" y="16916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>
                <a:solidFill>
                  <a:srgbClr val="202124"/>
                </a:solidFill>
              </a:rPr>
              <a:t>• Uvicorn ASGI server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086600" y="21945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>
                <a:solidFill>
                  <a:srgbClr val="202124"/>
                </a:solidFill>
              </a:rPr>
              <a:t>• CORS middleware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086600" y="26974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>
                <a:solidFill>
                  <a:srgbClr val="202124"/>
                </a:solidFill>
              </a:rPr>
              <a:t>• FileResponse screenshots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086600" y="32004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>
                <a:solidFill>
                  <a:srgbClr val="202124"/>
                </a:solidFill>
              </a:rPr>
              <a:t>• Seed data + replay engine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202124"/>
                </a:solidFill>
              </a:rPr>
              <a:t>Development Cost (hackathon prototype — all open-source / free-tier):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40080" y="2194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1A73E8"/>
                </a:solidFill>
              </a:rPr>
              <a:t>Gemini API (Flash)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754880" y="2194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02124"/>
                </a:solidFill>
              </a:rPr>
              <a:t>Free tier — ~$0 for prototype runs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40080" y="26060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1A73E8"/>
                </a:solidFill>
              </a:rPr>
              <a:t>Playwright / Chromium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754880" y="26060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02124"/>
                </a:solidFill>
              </a:rPr>
              <a:t>Open source — $0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40080" y="30175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1A73E8"/>
                </a:solidFill>
              </a:rPr>
              <a:t>React + FastAPI stack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754880" y="30175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02124"/>
                </a:solidFill>
              </a:rPr>
              <a:t>Open source — $0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40080" y="3429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1A73E8"/>
                </a:solidFill>
              </a:rPr>
              <a:t>SQLite database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754880" y="3429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02124"/>
                </a:solidFill>
              </a:rPr>
              <a:t>Embedded — $0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40080" y="3840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1A73E8"/>
                </a:solidFill>
              </a:rPr>
              <a:t>Cloud Run (production)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754880" y="3840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02124"/>
                </a:solidFill>
              </a:rPr>
              <a:t>Est. $15–40 / month at 10k runs/year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40080" y="4251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1A73E8"/>
                </a:solidFill>
              </a:rPr>
              <a:t>Firestore (production)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754880" y="4251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02124"/>
                </a:solidFill>
              </a:rPr>
              <a:t>Est. $5–20 / month at scale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457200" y="4846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34A853"/>
                </a:solidFill>
              </a:rPr>
              <a:t>Total prototype cost: $0  |  Production at 1,000 studies/year: ~$60–80/month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36" name="Rectangle 135"/>
          <p:cNvSpPr/>
          <p:nvPr/>
        </p:nvSpPr>
        <p:spPr>
          <a:xfrm>
            <a:off x="365760" y="1280160"/>
            <a:ext cx="3840480" cy="2743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365760" y="1298448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000">
                <a:solidFill>
                  <a:srgbClr val="FFFFFF"/>
                </a:solidFill>
              </a:rPr>
              <a:t>Landing Page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65760" y="1591056"/>
            <a:ext cx="3840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>
                <a:solidFill>
                  <a:srgbClr val="202124"/>
                </a:solidFill>
              </a:rPr>
              <a:t>Hero headline · Stats banner (23k hrs, 5 segments) · Feature cards · How-it-works steps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4572000" y="1280160"/>
            <a:ext cx="3840480" cy="2743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4572000" y="1298448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000">
                <a:solidFill>
                  <a:srgbClr val="FFFFFF"/>
                </a:solidFill>
              </a:rPr>
              <a:t>Swarm Wall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4572000" y="1591056"/>
            <a:ext cx="3840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>
                <a:solidFill>
                  <a:srgbClr val="202124"/>
                </a:solidFill>
              </a:rPr>
              <a:t>32 live agent tiles · segment colour coding · step trail dots · confusion badges · Thought Stream feed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65760" y="2468880"/>
            <a:ext cx="3840480" cy="2743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365760" y="2487168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000">
                <a:solidFill>
                  <a:srgbClr val="FFFFFF"/>
                </a:solidFill>
              </a:rPr>
              <a:t>Report — Funnel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65760" y="2779776"/>
            <a:ext cx="3840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>
                <a:solidFill>
                  <a:srgbClr val="202124"/>
                </a:solidFill>
              </a:rPr>
              <a:t>SVG line chart with drop-off cliff annotation · variant comparison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4572000" y="2468880"/>
            <a:ext cx="3840480" cy="2743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4572000" y="2487168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000">
                <a:solidFill>
                  <a:srgbClr val="FFFFFF"/>
                </a:solidFill>
              </a:rPr>
              <a:t>Report — Hours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572000" y="2779776"/>
            <a:ext cx="3840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>
                <a:solidFill>
                  <a:srgbClr val="202124"/>
                </a:solidFill>
              </a:rPr>
              <a:t>Dollar cost with editable rate · donut rings · confusion bars by segment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365760" y="3657600"/>
            <a:ext cx="3840480" cy="2743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365760" y="3675887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000">
                <a:solidFill>
                  <a:srgbClr val="FFFFFF"/>
                </a:solidFill>
              </a:rPr>
              <a:t>Fix Loop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65760" y="3968496"/>
            <a:ext cx="3840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>
                <a:solidFill>
                  <a:srgbClr val="202124"/>
                </a:solidFill>
              </a:rPr>
              <a:t>AI-ranked fixes · HIGH / MEDIUM / LOW impact · predicted hours saved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4572000" y="3657600"/>
            <a:ext cx="3840480" cy="2743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4572000" y="3675887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000">
                <a:solidFill>
                  <a:srgbClr val="FFFFFF"/>
                </a:solidFill>
              </a:rPr>
              <a:t>Calibration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572000" y="3968496"/>
            <a:ext cx="3840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>
                <a:solidFill>
                  <a:srgbClr val="202124"/>
                </a:solidFill>
              </a:rPr>
              <a:t>Half-circle accuracy gauges · per-segment bar chart · holdout vs tuning accuracy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44" name="Rectangle 143"/>
          <p:cNvSpPr/>
          <p:nvPr/>
        </p:nvSpPr>
        <p:spPr>
          <a:xfrm>
            <a:off x="365760" y="1280160"/>
            <a:ext cx="73152" cy="3200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548640" y="1280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202124"/>
                </a:solidFill>
              </a:rPr>
              <a:t>Swarm throughput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297680" y="1280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5F6368"/>
                </a:solidFill>
              </a:rPr>
              <a:t>32 agents × 9 steps replayed in &lt; 8 seconds via SSE streaming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365760" y="1737360"/>
            <a:ext cx="73152" cy="3200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548640" y="1737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202124"/>
                </a:solidFill>
              </a:rPr>
              <a:t>Gemini accuracy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297680" y="1737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5F6368"/>
                </a:solidFill>
              </a:rPr>
              <a:t>Calibrated holdout accuracy: 78% vs uncalibrated 61% baseline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365760" y="2194560"/>
            <a:ext cx="73152" cy="3200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548640" y="2194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202124"/>
                </a:solidFill>
              </a:rPr>
              <a:t>Completion rate delta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297680" y="2194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5F6368"/>
                </a:solidFill>
              </a:rPr>
              <a:t>Baseline variant: 0% → Redesign variant: 75% (demo seed data)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365760" y="2651760"/>
            <a:ext cx="73152" cy="3200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548640" y="2651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202124"/>
                </a:solidFill>
              </a:rPr>
              <a:t>Hours identified at risk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4297680" y="2651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5F6368"/>
                </a:solidFill>
              </a:rPr>
              <a:t>23,058 person-hours/year (20,000 employees × 12 tasks × friction delta)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365760" y="3108960"/>
            <a:ext cx="73152" cy="3200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548640" y="3108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202124"/>
                </a:solidFill>
              </a:rPr>
              <a:t>Fixes generated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4297680" y="3108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5F6368"/>
                </a:solidFill>
              </a:rPr>
              <a:t>4 ranked AI fixes in &lt; 3 seconds (Gemini Flash)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3566160"/>
            <a:ext cx="73152" cy="3200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548640" y="3566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202124"/>
                </a:solidFill>
              </a:rPr>
              <a:t>Persona segments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297680" y="3566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5F6368"/>
                </a:solidFill>
              </a:rPr>
              <a:t>5 segments covering New Hire · Power User · Frontline Mobile · Non-Native · Low Vision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365760" y="4023360"/>
            <a:ext cx="73152" cy="3200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548640" y="4023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202124"/>
                </a:solidFill>
              </a:rPr>
              <a:t>API latency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4297680" y="4023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5F6368"/>
                </a:solidFill>
              </a:rPr>
              <a:t>Metrics endpoint: &lt; 200 ms · Replay SSE: first event &lt; 500 ms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365760" y="4480560"/>
            <a:ext cx="73152" cy="3200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548640" y="4480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202124"/>
                </a:solidFill>
              </a:rPr>
              <a:t>Frontend bundle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4297680" y="4480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5F6368"/>
                </a:solidFill>
              </a:rPr>
              <a:t>Vite prod build: &lt; 400 KB gzipped · LCP &lt; 1.2s on localhost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457200" y="12801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1A73E8"/>
                </a:solidFill>
              </a:rPr>
              <a:t>→  Live Agent Execution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2560320" y="128016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02124"/>
                </a:solidFill>
              </a:rPr>
              <a:t>Full Playwright + Gemini Vision live runs (not just replay) on any public/private URL.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57200" y="17830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1A73E8"/>
                </a:solidFill>
              </a:rPr>
              <a:t>→  Cloud Deployment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2560320" y="178308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02124"/>
                </a:solidFill>
              </a:rPr>
              <a:t>Cloud Run + Firestore + Cloud Storage — multi-tenant, scalable, auth-gated.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457200" y="22860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1A73E8"/>
                </a:solidFill>
              </a:rPr>
              <a:t>→  Slack / Jira Integration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2560320" y="228600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02124"/>
                </a:solidFill>
              </a:rPr>
              <a:t>Push ranked fixes directly into Jira epics or Slack channels post-study.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457200" y="27889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1A73E8"/>
                </a:solidFill>
              </a:rPr>
              <a:t>→  Video Replay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2560320" y="278892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02124"/>
                </a:solidFill>
              </a:rPr>
              <a:t>Record Playwright sessions as MP4 — watch the agent navigate like a real user.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457200" y="3291839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1A73E8"/>
                </a:solidFill>
              </a:rPr>
              <a:t>→  Custom Segment Builder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2560320" y="3291839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02124"/>
                </a:solidFill>
              </a:rPr>
              <a:t>Let teams define their own persona segments with custom cognitive profiles.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57200" y="3794759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1A73E8"/>
                </a:solidFill>
              </a:rPr>
              <a:t>→  Continuous Monitoring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2560320" y="3794759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02124"/>
                </a:solidFill>
              </a:rPr>
              <a:t>Scheduled nightly swarm runs on production UIs — alert on regression before users notice.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457200" y="4297679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1A73E8"/>
                </a:solidFill>
              </a:rPr>
              <a:t>→  Benchmark Library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2560320" y="4297679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02124"/>
                </a:solidFill>
              </a:rPr>
              <a:t>Industry-specific baselines (HR tools, finance, healthcare) for cross-company comparison.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3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GitHub Public Repository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Demo Video Link (3 Minutes)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Final Product Link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202124"/>
                </a:solidFill>
              </a:rPr>
              <a:t>GitHub Repository: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73E8"/>
                </a:solidFill>
              </a:rPr>
              <a:t>https://github.com/[team-repo]/paraverse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202124"/>
                </a:solidFill>
              </a:rPr>
              <a:t>Demo Video (3 min):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73E8"/>
                </a:solidFill>
              </a:rPr>
              <a:t>[Demo video link — to be added before submission]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202124"/>
                </a:solidFill>
              </a:rPr>
              <a:t>Live Product: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457200" y="374903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73E8"/>
                </a:solidFill>
              </a:rPr>
              <a:t>[Deployed URL — to be added before submission]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5F6368"/>
                </a:solidFill>
              </a:rPr>
              <a:t>Note: Demo study ID cd388de5-cbe0-4b98-8aa7-abea51c7f503 pre-seeded with 32 runs across 5 segments.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